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7432"/>
          </a:xfrm>
          <a:prstGeom prst="rect">
            <a:avLst/>
          </a:prstGeom>
          <a:solidFill>
            <a:srgbClr val="2A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C9D6E6"/>
                </a:solidFill>
                <a:latin typeface="BIZ UDPGothic"/>
                <a:ea typeface="BIZ UDPGothic"/>
              </a:rPr>
              <a:t>補足資料(技術評価者向け)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IZ UDPGothic"/>
                <a:ea typeface="BIZ UDPGothic"/>
              </a:rPr>
              <a:t>生成ロジックの詳説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833A"/>
                </a:solidFill>
                <a:latin typeface="BIZ UDPGothic"/>
                <a:ea typeface="BIZ UDPGothic"/>
              </a:rPr>
              <a:t>支援記録・個別支援計画の生成を、形式的に記述する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8006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BIZ UDPGothic"/>
                <a:ea typeface="BIZ UDPGothic"/>
              </a:rPr>
              <a:t>本番コードベースに準拠(準拠コミット d9912d8)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8C6D8"/>
                </a:solidFill>
                <a:latin typeface="BIZ UDPGothic"/>
                <a:ea typeface="BIZ UDPGothic"/>
              </a:rPr>
              <a:t>2026年7月1日 ／ 運営：株式会社ソーシップ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28016" cy="603504"/>
          </a:xfrm>
          <a:prstGeom prst="roundRect">
            <a:avLst>
              <a:gd name="adj" fmla="val 50000"/>
            </a:avLst>
          </a:prstGeom>
          <a:solidFill>
            <a:srgbClr val="2A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C3E50"/>
                </a:solidFill>
                <a:latin typeface="BIZ UDPGothic"/>
                <a:ea typeface="BIZ UDPGothic"/>
              </a:rPr>
              <a:t>全体像 ― 支援文書生成は「条件付き生成」である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7899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A8F8F"/>
                </a:solidFill>
                <a:latin typeface="BIZ UDPGothic"/>
                <a:ea typeface="BIZ UDPGothic"/>
              </a:rPr>
              <a:t>児童ごとに集めた文脈 x を条件に、下書き y を生成。確定は必ず人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63040"/>
            <a:ext cx="10698480" cy="14630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16459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きづり 生成ロジック詳説 ｜ 株式会社ソーシップ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2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182880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EF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 bIns="109728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y 〜 M_θ( · | Π_s(x) ‖ G(c,d) ; τ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10515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M_θ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=生成モデル(OpenAI gpt-5.4系) / </a:t>
            </a: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Π_s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=仮名化 / </a:t>
            </a: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G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=施設ガイダンス / </a:t>
            </a: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τ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=温度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不変条件①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 外部モデルへ渡る全テキストは Π_s を通過(静的検査 A005 で強制)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不変条件②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 各生成は根拠の要約(sources)を返す(説明可能性)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不変条件③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 生成・修正を学習基盤へ追記(本処理は止めない / 同意は fail-closed)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28016" cy="603504"/>
          </a:xfrm>
          <a:prstGeom prst="roundRect">
            <a:avLst>
              <a:gd name="adj" fmla="val 50000"/>
            </a:avLst>
          </a:prstGeom>
          <a:solidFill>
            <a:srgbClr val="2A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C3E50"/>
                </a:solidFill>
                <a:latin typeface="BIZ UDPGothic"/>
                <a:ea typeface="BIZ UDPGothic"/>
              </a:rPr>
              <a:t>個別支援計画の文脈集約と目標ロジック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7899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A8F8F"/>
                </a:solidFill>
                <a:latin typeface="BIZ UDPGothic"/>
                <a:ea typeface="BIZ UDPGothic"/>
              </a:rPr>
              <a:t>アセスメント+モニタリングが土台。連絡帳の解析は上流(アセスメント)で吸収される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63040"/>
            <a:ext cx="10698480" cy="14630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16459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きづり 生成ロジック詳説 ｜ 株式会社ソーシップ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3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業務データを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決定的に集約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して文脈 x を作る(確率的検索ではない)</a:t>
            </a:r>
          </a:p>
          <a:p>
            <a:pPr algn="l" lvl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A8F8F"/>
                </a:solidFill>
                <a:latin typeface="BIZ UDPGothic"/>
                <a:ea typeface="BIZ UDPGothic"/>
              </a:rPr>
              <a:t>・</a:t>
            </a:r>
            <a:r>
              <a:rPr sz="1350" b="0" i="0">
                <a:solidFill>
                  <a:srgbClr val="4A5560"/>
                </a:solidFill>
                <a:latin typeface="BIZ UDPGothic"/>
                <a:ea typeface="BIZ UDPGothic"/>
              </a:rPr>
              <a:t>土台: </a:t>
            </a:r>
            <a:r>
              <a:rPr sz="1350" b="1" i="0">
                <a:solidFill>
                  <a:srgbClr val="4A5560"/>
                </a:solidFill>
                <a:latin typeface="BIZ UDPGothic"/>
                <a:ea typeface="BIZ UDPGothic"/>
              </a:rPr>
              <a:t>職員アセスメント</a:t>
            </a:r>
            <a:r>
              <a:rPr sz="1350" b="0" i="0">
                <a:solidFill>
                  <a:srgbClr val="4A5560"/>
                </a:solidFill>
                <a:latin typeface="BIZ UDPGothic"/>
                <a:ea typeface="BIZ UDPGothic"/>
              </a:rPr>
              <a:t>＋</a:t>
            </a:r>
            <a:r>
              <a:rPr sz="1350" b="1" i="0">
                <a:solidFill>
                  <a:srgbClr val="4A5560"/>
                </a:solidFill>
                <a:latin typeface="BIZ UDPGothic"/>
                <a:ea typeface="BIZ UDPGothic"/>
              </a:rPr>
              <a:t>保護者アセスメント</a:t>
            </a:r>
            <a:r>
              <a:rPr sz="1350" b="0" i="0">
                <a:solidFill>
                  <a:srgbClr val="4A5560"/>
                </a:solidFill>
                <a:latin typeface="BIZ UDPGothic"/>
                <a:ea typeface="BIZ UDPGothic"/>
              </a:rPr>
              <a:t>(5領域・目標)＋</a:t>
            </a:r>
            <a:r>
              <a:rPr sz="1350" b="1" i="0">
                <a:solidFill>
                  <a:srgbClr val="4A5560"/>
                </a:solidFill>
                <a:latin typeface="BIZ UDPGothic"/>
                <a:ea typeface="BIZ UDPGothic"/>
              </a:rPr>
              <a:t>最新モニタリング</a:t>
            </a:r>
            <a:r>
              <a:rPr sz="1350" b="0" i="0">
                <a:solidFill>
                  <a:srgbClr val="4A5560"/>
                </a:solidFill>
                <a:latin typeface="BIZ UDPGothic"/>
                <a:ea typeface="BIZ UDPGothic"/>
              </a:rPr>
              <a:t>(達成度)</a:t>
            </a:r>
          </a:p>
          <a:p>
            <a:pPr algn="l" lvl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A8F8F"/>
                </a:solidFill>
                <a:latin typeface="BIZ UDPGothic"/>
                <a:ea typeface="BIZ UDPGothic"/>
              </a:rPr>
              <a:t>・</a:t>
            </a:r>
            <a:r>
              <a:rPr sz="1350" b="0" i="0">
                <a:solidFill>
                  <a:srgbClr val="4A5560"/>
                </a:solidFill>
                <a:latin typeface="BIZ UDPGothic"/>
                <a:ea typeface="BIZ UDPGothic"/>
              </a:rPr>
              <a:t>補助: 前回の確定計画 / 能力評価の別添(§8 客観スコア)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コアの目標ロジック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: 継続目標は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モニタリング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から、新規目標は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職員+保護者アセスメント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から抽出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連絡帳の徹底解析は上流で実施: 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アセスメント生成が直近6か月の連絡帳を全件(蒸留)分析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(計画は連絡帳を直接読まない)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どの段を使ったかを sources として返却(説明可能性)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28016" cy="603504"/>
          </a:xfrm>
          <a:prstGeom prst="roundRect">
            <a:avLst>
              <a:gd name="adj" fmla="val 50000"/>
            </a:avLst>
          </a:prstGeom>
          <a:solidFill>
            <a:srgbClr val="2A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C3E50"/>
                </a:solidFill>
                <a:latin typeface="BIZ UDPGothic"/>
                <a:ea typeface="BIZ UDPGothic"/>
              </a:rPr>
              <a:t>多段条件付き生成 ① 個別支援計画・改訂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7899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A8F8F"/>
                </a:solidFill>
                <a:latin typeface="BIZ UDPGothic"/>
                <a:ea typeface="BIZ UDPGothic"/>
              </a:rPr>
              <a:t>単一呼出の構造化生成と、低温度の保守的編集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63040"/>
            <a:ext cx="10698480" cy="14630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16459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きづり 生成ロジック詳説 ｜ 株式会社ソーシップ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4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個別支援計画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: gpt-5.4 / τ=0.8 / max 4000 を1回。JSON(意向・方針・長期/短期・5領域明細)を生成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目標は </a:t>
            </a: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継続=モニタリング / 新規=職員+保護者アセスメント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 を最優先アンカーに(プロンプトで【最重要】指定)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出力健全性: JSONでなければ 502 で明示拒否(壊れた構造は採用しない)→ Π_s⁻¹ で実名復元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計画改訂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: τ=0.3 の保守的編集。指摘の無い箇所は一字一句保持、変更点は注釈(annotations)で保存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4846320"/>
            <a:ext cx="9601200" cy="1097280"/>
          </a:xfrm>
          <a:prstGeom prst="roundRect">
            <a:avLst>
              <a:gd name="adj" fmla="val 8000"/>
            </a:avLst>
          </a:prstGeom>
          <a:solidFill>
            <a:srgbClr val="EF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 bIns="109728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計画改訂: (y₁, A) = M_θ( · | y₀(原案), r(保護者コメント), m(議事録) )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A = 変更注釈 {(field, type∈{追加,削除}, text, reason)}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28016" cy="603504"/>
          </a:xfrm>
          <a:prstGeom prst="roundRect">
            <a:avLst>
              <a:gd name="adj" fmla="val 50000"/>
            </a:avLst>
          </a:prstGeom>
          <a:solidFill>
            <a:srgbClr val="2A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C3E50"/>
                </a:solidFill>
                <a:latin typeface="BIZ UDPGothic"/>
                <a:ea typeface="BIZ UDPGothic"/>
              </a:rPr>
              <a:t>多段条件付き生成 ② アセスメント・連絡帳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7899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A8F8F"/>
                </a:solidFill>
                <a:latin typeface="BIZ UDPGothic"/>
                <a:ea typeface="BIZ UDPGothic"/>
              </a:rPr>
              <a:t>逐次の条件付き生成チェーンと、軽量モデル+フォールバック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63040"/>
            <a:ext cx="10698480" cy="14630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16459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きづり 生成ロジック詳説 ｜ 株式会社ソーシップ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5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783080"/>
            <a:ext cx="10332720" cy="1417320"/>
          </a:xfrm>
          <a:prstGeom prst="roundRect">
            <a:avLst>
              <a:gd name="adj" fmla="val 8000"/>
            </a:avLst>
          </a:prstGeom>
          <a:solidFill>
            <a:srgbClr val="EF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 bIns="109728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u_dom  = M_θ( · | 連絡帳6か月(全件・蒸留), 家庭視点 ; τ=0.6 )   … 5領域課題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u_short = M_θ( · | u_dom, 面談, 家庭視点 ; 0.6 )         … 短期目標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u_long  = M_θ( · | u_short, 面談, 前回長期 ; 0.6 )        … 長期目標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アセスメントは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3段の連鎖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。各段は前段の出力を条件に取る(現状把握→近接→遠隔目標)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仮名化は連鎖全体で保持。中間生成物は仮名のまま、最終出力でのみ実名復元(外部は実名に触れない)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連絡帳は軽量モデル(gpt-5.4-mini)+ ヒヤリハット検出の副呼出 + 失敗時は決定的連結のフォールバック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28016" cy="603504"/>
          </a:xfrm>
          <a:prstGeom prst="roundRect">
            <a:avLst>
              <a:gd name="adj" fmla="val 50000"/>
            </a:avLst>
          </a:prstGeom>
          <a:solidFill>
            <a:srgbClr val="2A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C3E50"/>
                </a:solidFill>
                <a:latin typeface="BIZ UDPGothic"/>
                <a:ea typeface="BIZ UDPGothic"/>
              </a:rPr>
              <a:t>ガイダンス作用素 ― 明示 ⊕ 暗黙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7899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A8F8F"/>
                </a:solidFill>
                <a:latin typeface="BIZ UDPGothic"/>
                <a:ea typeface="BIZ UDPGothic"/>
              </a:rPr>
              <a:t>施設の基準と現場の傾向を、下書きへ同時に注入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63040"/>
            <a:ext cx="10698480" cy="14630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16459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きづり 生成ロジック詳説 ｜ 株式会社ソーシップ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6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57150"/>
            <a:ext cx="10817352" cy="349233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agram_two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02870"/>
            <a:ext cx="10725912" cy="34008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6B7B8D"/>
                </a:solidFill>
                <a:latin typeface="BIZ UDPGothic"/>
                <a:ea typeface="BIZ UDPGothic"/>
              </a:rPr>
              <a:t>G(c,d) = G_explicit(c) ⊕ [集計同意] · G_implicit(c,d)。明示はPIIなしで常時、暗黙は同意下で作用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28016" cy="603504"/>
          </a:xfrm>
          <a:prstGeom prst="roundRect">
            <a:avLst>
              <a:gd name="adj" fmla="val 50000"/>
            </a:avLst>
          </a:prstGeom>
          <a:solidFill>
            <a:srgbClr val="2A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C3E50"/>
                </a:solidFill>
                <a:latin typeface="BIZ UDPGothic"/>
                <a:ea typeface="BIZ UDPGothic"/>
              </a:rPr>
              <a:t>自己改善ループの形式化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7899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A8F8F"/>
                </a:solidFill>
                <a:latin typeface="BIZ UDPGothic"/>
                <a:ea typeface="BIZ UDPGothic"/>
              </a:rPr>
              <a:t>人間の修正を保存し、次期ガイダンスへ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63040"/>
            <a:ext cx="10698480" cy="14630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16459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きづり 生成ロジック詳説 ｜ 株式会社ソーシップ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7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09647" y="1627632"/>
            <a:ext cx="7772400" cy="271420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agram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1673352"/>
            <a:ext cx="7680960" cy="262276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" y="4160520"/>
            <a:ext cx="10332720" cy="1463040"/>
          </a:xfrm>
          <a:prstGeom prst="roundRect">
            <a:avLst>
              <a:gd name="adj" fmla="val 8000"/>
            </a:avLst>
          </a:prstGeom>
          <a:solidFill>
            <a:srgbClr val="EF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 bIns="109728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δ_k = 1 − similar_text(y_k, y'_k)/100 ∈ [0,1]      ai_acceptance = 1 − mean(δ)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G^(t+1) = Γ( G^(t), {(y, y', 理由, 成果)} )    ※ Γ は M_θ に非依存(=モデル交換可)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6B7B8D"/>
                </a:solidFill>
                <a:latin typeface="BIZ UDPGothic"/>
                <a:ea typeface="BIZ UDPGothic"/>
              </a:rPr>
              <a:t>※ 逆インセンティブ回避: 修正量 δ を職員評価に直結させない(最適化指標と評価指標を分離)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28016" cy="603504"/>
          </a:xfrm>
          <a:prstGeom prst="roundRect">
            <a:avLst>
              <a:gd name="adj" fmla="val 50000"/>
            </a:avLst>
          </a:prstGeom>
          <a:solidFill>
            <a:srgbClr val="2A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C3E50"/>
                </a:solidFill>
                <a:latin typeface="BIZ UDPGothic"/>
                <a:ea typeface="BIZ UDPGothic"/>
              </a:rPr>
              <a:t>構造化と蒸留(L1 → L4)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7899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A8F8F"/>
                </a:solidFill>
                <a:latin typeface="BIZ UDPGothic"/>
                <a:ea typeface="BIZ UDPGothic"/>
              </a:rPr>
              <a:t>記録を再利用可能な「支援知」へ。支援者成長モデル(Lv1-4)で介入量を適応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63040"/>
            <a:ext cx="10698480" cy="14630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16459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きづり 生成ロジック詳説 ｜ 株式会社ソーシップ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8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30141"/>
            <a:ext cx="10817352" cy="414635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DD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agram_di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75861"/>
            <a:ext cx="10725912" cy="40549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6B7B8D"/>
                </a:solidFill>
                <a:latin typeface="BIZ UDPGothic"/>
                <a:ea typeface="BIZ UDPGothic"/>
              </a:rPr>
              <a:t>L1 生データ → L2 構造化(本文非保存=PIIなし) → L3 支援知(k匿名 K=5) → L4 原理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28016" cy="603504"/>
          </a:xfrm>
          <a:prstGeom prst="roundRect">
            <a:avLst>
              <a:gd name="adj" fmla="val 50000"/>
            </a:avLst>
          </a:prstGeom>
          <a:solidFill>
            <a:srgbClr val="2A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C3E50"/>
                </a:solidFill>
                <a:latin typeface="BIZ UDPGothic"/>
                <a:ea typeface="BIZ UDPGothic"/>
              </a:rPr>
              <a:t>プライバシーの形式モデル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207008"/>
            <a:ext cx="10698480" cy="14630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16459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きづり 生成ロジック詳説 ｜ 株式会社ソーシップ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8368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9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仮名化 Π_s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 は既知氏名に対する近似対合(Π_s⁻¹∘Π_s ≈ id)。外部モデルは実名を観測しない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構造化スクラブ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(日付・電話・番号・敬称付き氏名を決定的除去)+ 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短名 fail-safe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(1文字氏名が残る例は破棄)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同意 AND・fail-closed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: Learn(s) = 施設の集計同意 ∧ 児童の学習同意。未整備の grant は中断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3層PII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: 原本=暗号化 / 仮名化payload / 非暗号化列に実名を入れない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テナント分離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(検索・監査を法人スコープに限定)/ 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同意文面スナップショット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(立証可能性)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28016" cy="603504"/>
          </a:xfrm>
          <a:prstGeom prst="roundRect">
            <a:avLst>
              <a:gd name="adj" fmla="val 50000"/>
            </a:avLst>
          </a:prstGeom>
          <a:solidFill>
            <a:srgbClr val="2A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C3E50"/>
                </a:solidFill>
                <a:latin typeface="BIZ UDPGothic"/>
                <a:ea typeface="BIZ UDPGothic"/>
              </a:rPr>
              <a:t>成果(Outcome)― 別添「評価状況の全体像」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7899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A8F8F"/>
                </a:solidFill>
                <a:latin typeface="BIZ UDPGothic"/>
                <a:ea typeface="BIZ UDPGothic"/>
              </a:rPr>
              <a:t>個人内評価(他児比較でなく過去の自分との差)。客観 × 本人の主観を統合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63040"/>
            <a:ext cx="10698480" cy="14630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16459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きづり 生成ロジック詳説 ｜ 株式会社ソーシップ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10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515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00" b="1" i="0">
                <a:solidFill>
                  <a:srgbClr val="E8833A"/>
                </a:solidFill>
                <a:latin typeface="BIZ UDPGothic"/>
                <a:ea typeface="BIZ UDPGothic"/>
              </a:rPr>
              <a:t>個人内評価</a:t>
            </a:r>
            <a:r>
              <a:rPr sz="1400" b="0" i="0">
                <a:solidFill>
                  <a:srgbClr val="2C3E50"/>
                </a:solidFill>
                <a:latin typeface="BIZ UDPGothic"/>
                <a:ea typeface="BIZ UDPGothic"/>
              </a:rPr>
              <a:t>: 能力スコアは 0〜10 の個人内基準。他児との比較をしない(福祉の原則)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00" b="1" i="0">
                <a:solidFill>
                  <a:srgbClr val="E8833A"/>
                </a:solidFill>
                <a:latin typeface="BIZ UDPGothic"/>
                <a:ea typeface="BIZ UDPGothic"/>
              </a:rPr>
              <a:t>A 客観スコア変化</a:t>
            </a:r>
            <a:r>
              <a:rPr sz="1400" b="0" i="0">
                <a:solidFill>
                  <a:srgbClr val="2C3E50"/>
                </a:solidFill>
                <a:latin typeface="BIZ UDPGothic"/>
                <a:ea typeface="BIZ UDPGothic"/>
              </a:rPr>
              <a:t>: ability_scores の項目最新値で集計(平均Δ・向上/低下)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00" b="1" i="0">
                <a:solidFill>
                  <a:srgbClr val="E8833A"/>
                </a:solidFill>
                <a:latin typeface="BIZ UDPGothic"/>
                <a:ea typeface="BIZ UDPGothic"/>
              </a:rPr>
              <a:t>B モニタリング達成度</a:t>
            </a:r>
            <a:r>
              <a:rPr sz="1400" b="0" i="0">
                <a:solidFill>
                  <a:srgbClr val="2C3E50"/>
                </a:solidFill>
                <a:latin typeface="BIZ UDPGothic"/>
                <a:ea typeface="BIZ UDPGothic"/>
              </a:rPr>
              <a:t>: 達成度 a∈{1..5} を pct = (mean(a)−1)/4 × 100 で正規化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00" b="1" i="0">
                <a:solidFill>
                  <a:srgbClr val="E8833A"/>
                </a:solidFill>
                <a:latin typeface="BIZ UDPGothic"/>
                <a:ea typeface="BIZ UDPGothic"/>
              </a:rPr>
              <a:t>C 主観×客観の一致</a:t>
            </a:r>
            <a:r>
              <a:rPr sz="1400" b="0" i="0">
                <a:solidFill>
                  <a:srgbClr val="2C3E50"/>
                </a:solidFill>
                <a:latin typeface="BIZ UDPGothic"/>
                <a:ea typeface="BIZ UDPGothic"/>
              </a:rPr>
              <a:t>: 本人の主観(mynameis, 1..5→0..10 正規化)と客観を領域別に突合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00" b="0" i="0">
                <a:solidFill>
                  <a:srgbClr val="2C3E50"/>
                </a:solidFill>
                <a:latin typeface="BIZ UDPGothic"/>
                <a:ea typeface="BIZ UDPGothic"/>
              </a:rPr>
              <a:t>別添の客観要約は </a:t>
            </a:r>
            <a:r>
              <a:rPr sz="1400" b="1" i="0">
                <a:solidFill>
                  <a:srgbClr val="E8833A"/>
                </a:solidFill>
                <a:latin typeface="BIZ UDPGothic"/>
                <a:ea typeface="BIZ UDPGothic"/>
              </a:rPr>
              <a:t>個別支援計画AIのプロンプトへ還流</a:t>
            </a:r>
            <a:r>
              <a:rPr sz="1400" b="0" i="0">
                <a:solidFill>
                  <a:srgbClr val="2C3E50"/>
                </a:solidFill>
                <a:latin typeface="BIZ UDPGothic"/>
                <a:ea typeface="BIZ UDPGothic"/>
              </a:rPr>
              <a:t>(記録 → 評価 → 計画の循環)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5257800"/>
            <a:ext cx="9235440" cy="868680"/>
          </a:xfrm>
          <a:prstGeom prst="roundRect">
            <a:avLst>
              <a:gd name="adj" fmla="val 8000"/>
            </a:avLst>
          </a:prstGeom>
          <a:solidFill>
            <a:srgbClr val="EF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 bIns="109728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agree_j = max(0, 1 − |o_j − b_j| / 10) × 100      overall = mean_j(agree_j)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28016" cy="603504"/>
          </a:xfrm>
          <a:prstGeom prst="roundRect">
            <a:avLst>
              <a:gd name="adj" fmla="val 50000"/>
            </a:avLst>
          </a:prstGeom>
          <a:solidFill>
            <a:srgbClr val="2A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C3E50"/>
                </a:solidFill>
                <a:latin typeface="BIZ UDPGothic"/>
                <a:ea typeface="BIZ UDPGothic"/>
              </a:rPr>
              <a:t>説明可能性とトレーサビリティ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7899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A8F8F"/>
                </a:solidFill>
                <a:latin typeface="BIZ UDPGothic"/>
                <a:ea typeface="BIZ UDPGothic"/>
              </a:rPr>
              <a:t>「何を根拠に、どのモデルで、どう生成したか」を後から検証できる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63040"/>
            <a:ext cx="10698480" cy="14630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47104"/>
            <a:ext cx="12191695" cy="16459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きづり 生成ロジック詳説 ｜ 株式会社ソーシップ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11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各生成は </a:t>
            </a: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sources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(アセス/モニタリング/連絡帳件数と期間/前計画/能力評価の有無)を返す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AiGenerationLog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 に モデル・温度・最大トークン・(マスク済)プロンプト・トークン量・所要時間 を記録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→ 生成の</a:t>
            </a:r>
            <a:r>
              <a:rPr sz="1500" b="1" i="0">
                <a:solidFill>
                  <a:srgbClr val="E8833A"/>
                </a:solidFill>
                <a:latin typeface="BIZ UDPGothic"/>
                <a:ea typeface="BIZ UDPGothic"/>
              </a:rPr>
              <a:t>再現性・監査可能性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を担保。学習基盤は生成(L2)と修正(L1)を追記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500" b="0" i="0">
                <a:solidFill>
                  <a:srgbClr val="2C3E50"/>
                </a:solidFill>
                <a:latin typeface="BIZ UDPGothic"/>
                <a:ea typeface="BIZ UDPGothic"/>
              </a:rPr>
              <a:t>これらが将来の Γ(自己改善)とローカルAI学習の素材になる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28016" cy="603504"/>
          </a:xfrm>
          <a:prstGeom prst="roundRect">
            <a:avLst>
              <a:gd name="adj" fmla="val 50000"/>
            </a:avLst>
          </a:prstGeom>
          <a:solidFill>
            <a:srgbClr val="2A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84048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C3E50"/>
                </a:solidFill>
                <a:latin typeface="BIZ UDPGothic"/>
                <a:ea typeface="BIZ UDPGothic"/>
              </a:rPr>
              <a:t>限界と理論的拡張(誠実な開示)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207008"/>
            <a:ext cx="10698480" cy="14630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16459"/>
          </a:xfrm>
          <a:prstGeom prst="rect">
            <a:avLst/>
          </a:prstGeom>
          <a:solidFill>
            <a:srgbClr val="E3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きづり 生成ロジック詳説 ｜ 株式会社ソーシップ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8368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6B7B8D"/>
                </a:solidFill>
                <a:latin typeface="BIZ UDPGothic"/>
                <a:ea typeface="BIZ UDPGothic"/>
              </a:rPr>
              <a:t>12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RAG は生成へ未配線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: 埋め込み基盤は実装済だが、生成は決定的に集約した文脈に条件付け(検索挿入は将来)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Γ は現状ヒューリスティック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(統計写像)。蓄積は将来のローカルAI蒸留の素材として保存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因果の留保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: 成果は相関・記述統計。支援→成果の因果は S9(介入↔成果連結)で前提整備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全国横断は未解禁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: 法務4点+恒久匿名化のクリアを前提にゲート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E8833A"/>
                </a:solidFill>
                <a:latin typeface="BIZ UDPGothic"/>
                <a:ea typeface="BIZ UDPGothic"/>
              </a:rPr>
              <a:t>▸ </a:t>
            </a:r>
            <a:r>
              <a:rPr sz="1450" b="1" i="0">
                <a:solidFill>
                  <a:srgbClr val="E8833A"/>
                </a:solidFill>
                <a:latin typeface="BIZ UDPGothic"/>
                <a:ea typeface="BIZ UDPGothic"/>
              </a:rPr>
              <a:t>モデル非依存の含意</a:t>
            </a:r>
            <a:r>
              <a:rPr sz="1450" b="0" i="0">
                <a:solidFill>
                  <a:srgbClr val="2C3E50"/>
                </a:solidFill>
                <a:latin typeface="BIZ UDPGothic"/>
                <a:ea typeface="BIZ UDPGothic"/>
              </a:rPr>
              <a:t>: Γ と蓄積が M_θ と独立 = 国産・ローカルAIへ置換しても機能(事業命題の技術的裏づけ)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3017520"/>
            <a:ext cx="2926080" cy="54864"/>
          </a:xfrm>
          <a:prstGeom prst="rect">
            <a:avLst/>
          </a:prstGeom>
          <a:solidFill>
            <a:srgbClr val="2A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BIZ UDPGothic"/>
                <a:ea typeface="BIZ UDPGothic"/>
              </a:rPr>
              <a:t>AIは交換可能、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8833A"/>
                </a:solidFill>
                <a:latin typeface="BIZ UDPGothic"/>
                <a:ea typeface="BIZ UDPGothic"/>
              </a:rPr>
              <a:t>蓄積した支援知は交換できない。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329184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C9D6E6"/>
                </a:solidFill>
                <a:latin typeface="BIZ UDPGothic"/>
                <a:ea typeface="BIZ UDPGothic"/>
              </a:rPr>
              <a:t>生成は『仮名化された条件付き生成』、改善は『人間の修正を保存して学ぶループ』。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C9D6E6"/>
                </a:solidFill>
                <a:latin typeface="BIZ UDPGothic"/>
                <a:ea typeface="BIZ UDPGothic"/>
              </a:rPr>
              <a:t>いずれもモデルに依存しない設計で、将来のローカルAIへ継承できます。</a:t>
            </a:r>
          </a:p>
          <a:p>
            <a:pPr algn="l">
              <a:lnSpc>
                <a:spcPct val="118000"/>
              </a:lnSpc>
              <a:spcBef>
                <a:spcPts val="1000"/>
              </a:spcBef>
              <a:spcAft>
                <a:spcPts val="800"/>
              </a:spcAft>
            </a:pPr>
            <a:r>
              <a:rPr sz="1300" b="0" i="0">
                <a:solidFill>
                  <a:srgbClr val="B8C6D8"/>
                </a:solidFill>
                <a:latin typeface="BIZ UDPGothic"/>
                <a:ea typeface="BIZ UDPGothic"/>
              </a:rPr>
              <a:t>概要は別冊『紹介資料』をご参照ください。 ／ 運営：株式会社ソーシップ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